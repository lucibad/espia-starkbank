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ITA CHALLENGE SPRINT · SEMANA 2 · HIPÓTESE DE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4400" b="0">
                <a:solidFill>
                  <a:srgbClr val="16211C"/>
                </a:solidFill>
                <a:latin typeface="Georgia"/>
              </a:rPr>
              <a:t>Rastrear a informação que entra na IA,
e provar o risco.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5A6A62"/>
                </a:solidFill>
                <a:latin typeface="Helvetica Neue"/>
              </a:rPr>
              <a:t>Como a solução em desenvolvimento atende aos requisitos do Desafio 2 (Stark Bank): funcionamento, papel da IA, linha de base, métrica e meta, e os dados.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5A6A62"/>
                </a:solidFill>
                <a:latin typeface="Menlo"/>
              </a:rPr>
              <a:t>GerencIA · base oficial: 650 eventos · 72 usuários · 8 ferramentas · 14 regras · dados fictícios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FUNCIONAMENTO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0">
                <a:solidFill>
                  <a:srgbClr val="16211C"/>
                </a:solidFill>
                <a:latin typeface="Georgia"/>
              </a:rPr>
              <a:t>GerencIA rastreia a informação, não o clique.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0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lnSpc>
                <a:spcPct val="130000"/>
              </a:lnSpc>
            </a:pPr>
            <a:r>
              <a:rPr sz="1550" b="0">
                <a:solidFill>
                  <a:srgbClr val="EAF3EE"/>
                </a:solidFill>
                <a:latin typeface="Helvetica Neue"/>
              </a:rPr>
              <a:t>“A chave/API secret apareceu em 5 ferramentas, com 30 pessoas, 35 vezes — 3 em IA pública.” A solução reaplica a política com cadeia de evidência e audita a própria rotulagem.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66160"/>
            <a:ext cx="5180076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4814316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1 · Capturar na borda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Três camadas observam o uso de IA na estação e enviam ao coletor central on-premise.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3566160"/>
            <a:ext cx="5180076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8796" y="3749039"/>
            <a:ext cx="4814316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2 · Identidade no SO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Quem usou é o usuário logado na máquina — nunca decidido pela página.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65776"/>
            <a:ext cx="5180076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48656"/>
            <a:ext cx="4814316" cy="1060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3 · Reaplicar com IA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Motor classifica, decide o risco por precedência e monta a evidência; LLM em cascata.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5916" y="5065776"/>
            <a:ext cx="5180076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8796" y="5248656"/>
            <a:ext cx="4814316" cy="1060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4 · Unificar e investigar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Legado (Excel) + presente (capturas) no mesmo motor; painel com busca reversa e alertas.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O DESENHO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0">
                <a:solidFill>
                  <a:srgbClr val="16211C"/>
                </a:solidFill>
                <a:latin typeface="Georgia"/>
              </a:rPr>
              <a:t>Arquitetura da solução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874519"/>
            <a:ext cx="9601200" cy="786384"/>
          </a:xfrm>
          <a:prstGeom prst="roundRect">
            <a:avLst>
              <a:gd name="adj" fmla="val 6000"/>
            </a:avLst>
          </a:prstGeom>
          <a:solidFill>
            <a:srgbClr val="2B5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Captura na borda  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EAF3EE"/>
                </a:solidFill>
                <a:latin typeface="Helvetica Neue"/>
              </a:rPr>
              <a:t>Extensão (conteúdo) · Agente/serviço (metadado, qualquer app) · Proxy MITM (conteúdo, opcional)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6426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C6B4D"/>
                </a:solidFill>
                <a:latin typeface="Helvetica Neue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880359"/>
            <a:ext cx="9601200" cy="786384"/>
          </a:xfrm>
          <a:prstGeom prst="roundRect">
            <a:avLst>
              <a:gd name="adj" fmla="val 600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Coletor central (on-premise)  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EAF3EE"/>
                </a:solidFill>
                <a:latin typeface="Helvetica Neue"/>
              </a:rPr>
              <a:t>Resolve a identidade no SO, grava a trilha, regenera o painel.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6484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C6B4D"/>
                </a:solidFill>
                <a:latin typeface="Helvetica Neue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886200"/>
            <a:ext cx="9601200" cy="786384"/>
          </a:xfrm>
          <a:prstGeom prst="roundRect">
            <a:avLst>
              <a:gd name="adj" fmla="val 6000"/>
            </a:avLst>
          </a:prstGeom>
          <a:solidFill>
            <a:srgbClr val="0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Motor de IA  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EAF3EE"/>
                </a:solidFill>
                <a:latin typeface="Helvetica Neue"/>
              </a:rPr>
              <a:t>IA clássica (detectores + fingerprint + regras R01–R14 com precedência)  ⇄ cascata/aprendizado ⇄  LLM (linguagem natural)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C6B4D"/>
                </a:solidFill>
                <a:latin typeface="Helvetica Neue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892040"/>
            <a:ext cx="9601200" cy="786384"/>
          </a:xfrm>
          <a:prstGeom prst="roundRect">
            <a:avLst>
              <a:gd name="adj" fmla="val 6000"/>
            </a:avLst>
          </a:prstGeom>
          <a:solidFill>
            <a:srgbClr val="2B5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Base unificada  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EAF3EE"/>
                </a:solidFill>
                <a:latin typeface="Helvetica Neue"/>
              </a:rPr>
              <a:t>Excel = legado · capturas ao vivo = presente. Mesma tabela, mesmo motor.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660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C6B4D"/>
                </a:solidFill>
                <a:latin typeface="Helvetica Neue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897880"/>
            <a:ext cx="9601200" cy="786384"/>
          </a:xfrm>
          <a:prstGeom prst="roundRect">
            <a:avLst>
              <a:gd name="adj" fmla="val 600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Painel de governança  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EAF3EE"/>
                </a:solidFill>
                <a:latin typeface="Helvetica Neue"/>
              </a:rPr>
              <a:t>Panorama · Rastrear · Alertas+evidência · Auditoria · Validação · Política · Inventário · Captura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PAPEL DA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0">
                <a:solidFill>
                  <a:srgbClr val="16211C"/>
                </a:solidFill>
                <a:latin typeface="Georgia"/>
              </a:rPr>
              <a:t>A IA é o núcleo — e é auditável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>
                <a:solidFill>
                  <a:srgbClr val="5A6A62"/>
                </a:solidFill>
                <a:latin typeface="Helvetica Neue"/>
              </a:rPr>
              <a:t>As três decisões centrais são da IA: classificar a informação, decidir o risco e rastrear em linguagem natural. É aceitável em Compliance porque decide por regras explícitas com cadeia de evidência — não é caixa-preta.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518007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301752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IA CLÁSSICA ·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81431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Classificação e risco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Detectores (CPF/CNPJ/Luhn/credencial) + fingerprint + regras R01–R14 por precedência. Determinística e explicável.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2834640"/>
            <a:ext cx="518007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68796" y="3017520"/>
            <a:ext cx="1595628" cy="256032"/>
          </a:xfrm>
          <a:prstGeom prst="roundRect">
            <a:avLst>
              <a:gd name="adj" fmla="val 50000"/>
            </a:avLst>
          </a:prstGeom>
          <a:solidFill>
            <a:srgbClr val="F3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6A2A78"/>
                </a:solidFill>
                <a:latin typeface="Menlo"/>
              </a:rPr>
              <a:t>LLM · COMPLEMENTA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6" y="3383280"/>
            <a:ext cx="481431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Linguagem natural + aprendizado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LLM em cascata quando a regra não basta; o que resolve vira padrão de volta para a IA clássica.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12064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6211C"/>
                </a:solidFill>
                <a:latin typeface="Helvetica Neue"/>
              </a:rPr>
              <a:t>Por que IA: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volume e fluxo contínuo (inviável manual) · rastreio e classificação lidam com linguagem natural · política precisa ser aplicada de forma consistente e auditável.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Como a solução atende ao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Registrar ferramentas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Inventário + captura ao vivo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122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Identificar informação compartilhada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Rastrear (busca reversa) + fingerprint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94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Classificar sensibilidade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Detectores + tipos + Política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266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Usuário/área/ferramenta/data/finalidade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Esquema de eventos; identidade no 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4838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Histórico e rastreabilidade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11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Linhagem + trilha em banco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9410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Risco e alertas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Motor R01–R14 + Alertas com evidência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3982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Filtros multidimensionais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Filtros compartilhados no painel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554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Indicadores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83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Auditoria — recalculados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3126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Apoio a auditoria com evidência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40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Cadeia de regras por evento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7698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6211C"/>
                </a:solidFill>
                <a:latin typeface="Helvetica Neue"/>
              </a:rPr>
              <a:t>Empresa define as regras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897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Lidas da planilha; código não reescreve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22706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LINHA DE BASE · MÉTRICA ·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O que mediremos, e contra o quê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92423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302666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7 / 10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indicadores declarados divergem do apurado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783080"/>
            <a:ext cx="3392423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965960"/>
            <a:ext cx="302666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6,8% → 16,6%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eventos críticos: subnotificação de ~2,4×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7" y="1783080"/>
            <a:ext cx="3392423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1965960"/>
            <a:ext cx="302666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72% → ?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SLA de alerta em 24h: declarado, não apurável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461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spc="40">
                <a:solidFill>
                  <a:srgbClr val="0F3B2C"/>
                </a:solidFill>
                <a:latin typeface="Menlo"/>
              </a:rPr>
              <a:t>MÉTRICA PRIMÁRIA — fidelidade da governança: fechar as 7 divergências declarado ×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spc="40">
                <a:solidFill>
                  <a:srgbClr val="5A6A62"/>
                </a:solidFill>
                <a:latin typeface="Menlo"/>
              </a:rPr>
              <a:t>MÉTRICA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spc="40">
                <a:solidFill>
                  <a:srgbClr val="5A6A62"/>
                </a:solidFill>
                <a:latin typeface="Menlo"/>
              </a:rPr>
              <a:t>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4903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spc="40">
                <a:solidFill>
                  <a:srgbClr val="5A6A62"/>
                </a:solidFill>
                <a:latin typeface="Menlo"/>
              </a:rPr>
              <a:t>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782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6211C"/>
                </a:solidFill>
                <a:latin typeface="Helvetica Neue"/>
              </a:rPr>
              <a:t>Fidelidade (declarado × real)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782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7/10 divergem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07822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3B2C"/>
                </a:solidFill>
                <a:latin typeface="Helvetica Neue"/>
              </a:rPr>
              <a:t>0/10 divergem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70832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6211C"/>
                </a:solidFill>
                <a:latin typeface="Helvetica Neue"/>
              </a:rPr>
              <a:t>Reprodução do gabarito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480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3B2C"/>
                </a:solidFill>
                <a:latin typeface="Helvetica Neue"/>
              </a:rPr>
              <a:t>15/15 (atingido)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773168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8289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6211C"/>
                </a:solidFill>
                <a:latin typeface="Helvetica Neue"/>
              </a:rPr>
              <a:t>Concordância de nível de risco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828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88289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3B2C"/>
                </a:solidFill>
                <a:latin typeface="Helvetica Neue"/>
              </a:rPr>
              <a:t>≥ 98% (98,8%)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17550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8523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6211C"/>
                </a:solidFill>
                <a:latin typeface="Helvetica Neue"/>
              </a:rPr>
              <a:t>Alertas com evidência íntegra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852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38 enganam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28523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3B2C"/>
                </a:solidFill>
                <a:latin typeface="Helvetica Neue"/>
              </a:rPr>
              <a:t>100% auditáveis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577840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8756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6211C"/>
                </a:solidFill>
                <a:latin typeface="Helvetica Neue"/>
              </a:rPr>
              <a:t>Tempo de rastreio de informação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68756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manual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6875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3B2C"/>
                </a:solidFill>
                <a:latin typeface="Helvetica Neue"/>
              </a:rPr>
              <a:t>&lt; 5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980176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Disponíveis e com qualidade medida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8007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DISPONÍVEL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8143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Base oficial do desafio (legado)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650 eventos, 160 alertas, 8 ferramentas, 20 tipos, 72 usuários, 14 regras, 12 abas. Classificação pronta (Classificador/DLP). Fictícios.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1783080"/>
            <a:ext cx="518007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8796" y="19659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DISPONÍVEL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6" y="2331720"/>
            <a:ext cx="48143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Capturas ao vivo (presente)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Extensão, agente e proxy alimentam o mesmo banco, com identidade no SO e origem marcada.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49039"/>
            <a:ext cx="10424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16211C"/>
                </a:solidFill>
                <a:latin typeface="Helvetica Neue"/>
              </a:rPr>
              <a:t>Qualidade é parte do problema. </a:t>
            </a:r>
            <a:r>
              <a:rPr sz="1400" b="0">
                <a:solidFill>
                  <a:srgbClr val="5A6A62"/>
                </a:solidFill>
                <a:latin typeface="Helvetica Neue"/>
              </a:rPr>
              <a:t>O dado existe, mas a solução não confia cegamente: ao reaplicar as regras, mede a qualidade da rotulagem e encontra os defeitos — rótulos que enganam o auditor, ausência de data de tratamento (que torna o SLA não apurável), regra genérica no lugar da específica. Medir a qualidade do dado é um entregável, não um pré-requisito.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AS 6 PERGUNTAS DA SEMANA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01  </a:t>
            </a:r>
            <a:r>
              <a:rPr sz="2200" b="0">
                <a:solidFill>
                  <a:srgbClr val="0F3B2C"/>
                </a:solidFill>
                <a:latin typeface="Georgia"/>
              </a:rPr>
              <a:t>Como a solução atende aos requisitos?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6211C"/>
                </a:solidFill>
                <a:latin typeface="Helvetica Neue"/>
              </a:rPr>
              <a:t>Reenquadra “registrar uso” para “rastrear informação”. Cada requisito do desafio tem lugar concreto: inventário, busca reversa, detectores, esquema completo, linhagem, motor R01–R14 com alertas e evidência, filtros e indicadores recalculados. As regras são as da empresa, lidas da planilha.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02  </a:t>
            </a:r>
            <a:r>
              <a:rPr sz="2200" b="0">
                <a:solidFill>
                  <a:srgbClr val="0F3B2C"/>
                </a:solidFill>
                <a:latin typeface="Georgia"/>
              </a:rPr>
              <a:t>Qual valor ela entrega?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6211C"/>
                </a:solidFill>
                <a:latin typeface="Helvetica Neue"/>
              </a:rPr>
              <a:t>Confiança na governança (indicadores apurados com evidência, no lugar de números que erram 2,4×), linhagem da informação (a pergunta norteadora do desafio) e auditabilidade (cada alerta com o porquê e a ação). Transforma “achamos que estamos seguros” em “provamos onde não estamos”.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AS 6 PERGUNTAS DA SEMANA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03  </a:t>
            </a:r>
            <a:r>
              <a:rPr sz="2200" b="0">
                <a:solidFill>
                  <a:srgbClr val="0F3B2C"/>
                </a:solidFill>
                <a:latin typeface="Georgia"/>
              </a:rPr>
              <a:t>Qual tarefa a IA executa e por que usá-la?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6211C"/>
                </a:solidFill>
                <a:latin typeface="Helvetica Neue"/>
              </a:rPr>
              <a:t>Classificar (detectores+fingerprint), decidir o risco (regras por precedência, com evidência) e rastrear em linguagem natural (LLM em cascata com aprendizado). Usa-se IA pelo volume/fluxo contínuo, pela linguagem natural do rastreio e da classificação, e pela consistência auditável exigida.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04  </a:t>
            </a:r>
            <a:r>
              <a:rPr sz="2200" b="0">
                <a:solidFill>
                  <a:srgbClr val="0F3B2C"/>
                </a:solidFill>
                <a:latin typeface="Georgia"/>
              </a:rPr>
              <a:t>Qual é o resultado atual?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6211C"/>
                </a:solidFill>
                <a:latin typeface="Helvetica Neue"/>
              </a:rPr>
              <a:t>Um painel cujos números não se sustentam: 7/10 indicadores declarados divergem, críticos subnotificados (6,8%→16,6%), SLA de 24h não apurável, 6/14 regras nunca disparam. Rastrear uma informação hoje é trabalho manual. É a linha de base a superar.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AS 6 PERGUNTAS DA SEMANA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05  </a:t>
            </a:r>
            <a:r>
              <a:rPr sz="2200" b="0">
                <a:solidFill>
                  <a:srgbClr val="0F3B2C"/>
                </a:solidFill>
                <a:latin typeface="Georgia"/>
              </a:rPr>
              <a:t>Qual métrica e qual meta serão testadas?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6211C"/>
                </a:solidFill>
                <a:latin typeface="Helvetica Neue"/>
              </a:rPr>
              <a:t>Primária: fidelidade da governança — zerar as 7 divergências. Corretude do motor: gabarito 15/15 (atingido) e concordância de nível ≥98% (98,8%). Valor de auditoria: 100% dos alertas com evidência íntegra e rastreio de informação &lt; 5 s. Tudo verificável contra a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06  </a:t>
            </a:r>
            <a:r>
              <a:rPr sz="2200" b="0">
                <a:solidFill>
                  <a:srgbClr val="0F3B2C"/>
                </a:solidFill>
                <a:latin typeface="Georgia"/>
              </a:rPr>
              <a:t>Quais dados estão disponíveis?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6211C"/>
                </a:solidFill>
                <a:latin typeface="Helvetica Neue"/>
              </a:rPr>
              <a:t>Legado (base oficial: 650 eventos e as 12 abas, classificação pronta, fictícios) e presente (capturas ao vivo, identidade no SO). A solução audita a qualidade da rotulagem — e é medindo essa qualidade que encontra os seis achados.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CRITÉRIO DA SEMANA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Coerência da solução e proposta de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80076" cy="2020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14316" cy="1746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01 · Atendimento aos requisitos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Cada requisito mapeado a uma vista/mecanismo; regras e classificações são as da empresa.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5916" y="1828800"/>
            <a:ext cx="5180076" cy="2020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8796" y="2011680"/>
            <a:ext cx="4814316" cy="1746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02 · Papel da IA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IA é o núcleo (classifica, decide, rastreia), auditável; LLM em cascata com aprendizado.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14216"/>
            <a:ext cx="5180076" cy="2020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97096"/>
            <a:ext cx="4814316" cy="1746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03 · Linha de base, métrica e meta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Base honesta (7/10 divergem; críticos 2,4×); métrica de fidelidade, meta de zerar divergências.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4014216"/>
            <a:ext cx="5180076" cy="2020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8796" y="4197096"/>
            <a:ext cx="4814316" cy="1746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04 · Dados e qualidade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Legado + presente; a qualidade da rotulagem é medida pela própria solução (os 6 achados).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