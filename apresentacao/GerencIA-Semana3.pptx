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56032" cy="685800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ITA CHALLENGE SPRINT · SEMANA 3 · PROTÓTIPO V1 E 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4400" b="0">
                <a:solidFill>
                  <a:srgbClr val="16211C"/>
                </a:solidFill>
                <a:latin typeface="Georgia"/>
              </a:rPr>
              <a:t>O protótipo já roda — e processa
a base real do desafio.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023360"/>
            <a:ext cx="9966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5A6A62"/>
                </a:solidFill>
                <a:latin typeface="Helvetica Neue"/>
              </a:rPr>
              <a:t>GerencIA V1: arquitetura de ponta a ponta, o modelo de IA e a justificativa, o fluxo de dados com retroalimentação, segurança e as limitações que já encontramos.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43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5A6A62"/>
                </a:solidFill>
                <a:latin typeface="Menlo"/>
              </a:rPr>
              <a:t>Base oficial: 650 eventos · 14 regras · 15/15 do gabarito · 98,8% de concordância de nível · dados fictícios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PRIMEIRO PROTÓTIPO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0">
                <a:solidFill>
                  <a:srgbClr val="16211C"/>
                </a:solidFill>
                <a:latin typeface="Georgia"/>
              </a:rPr>
              <a:t>Não é mockup — já roda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43032" cy="1280160"/>
          </a:xfrm>
          <a:prstGeom prst="roundRect">
            <a:avLst>
              <a:gd name="adj" fmla="val 6000"/>
            </a:avLst>
          </a:prstGeom>
          <a:solidFill>
            <a:srgbClr val="0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EAF3EE"/>
                </a:solidFill>
                <a:latin typeface="Helvetica Neue"/>
              </a:rPr>
              <a:t>O V1 lê a planilha oficial, aplica as 14 regras, audita, monta o painel e recebe capturas ao vivo. Reproduz 15/15 do gabarito e concorda com o nível de risco em 98,8%; os dois motores batem em tudo.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F3B2C"/>
                </a:solidFill>
                <a:latin typeface="Menlo"/>
              </a:rPr>
              <a:t>python3 run.py gerar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34747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A6A62"/>
                </a:solidFill>
                <a:latin typeface="Helvetica Neue"/>
              </a:rPr>
              <a:t>lê a planilha, aplica regras, audita, monta o painel (~2s)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40480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86783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F3B2C"/>
                </a:solidFill>
                <a:latin typeface="Menlo"/>
              </a:rPr>
              <a:t>python3 run.py coletor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986783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A6A62"/>
                </a:solidFill>
                <a:latin typeface="Helvetica Neue"/>
              </a:rPr>
              <a:t>recebe capturas do espia-borda e regenera o painel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352544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9884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F3B2C"/>
                </a:solidFill>
                <a:latin typeface="Menlo"/>
              </a:rPr>
              <a:t>python3 testes.py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498848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A6A62"/>
                </a:solidFill>
                <a:latin typeface="Helvetica Neue"/>
              </a:rPr>
              <a:t>37 verificações de sanidade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64608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109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F3B2C"/>
                </a:solidFill>
                <a:latin typeface="Menlo"/>
              </a:rPr>
              <a:t>python3 testes_paridade.py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01091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A6A62"/>
                </a:solidFill>
                <a:latin typeface="Helvetica Neue"/>
              </a:rPr>
              <a:t>motor Python × motor do navegador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376672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FUNCIONALIDADES PRINCIPAIS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0">
                <a:solidFill>
                  <a:srgbClr val="16211C"/>
                </a:solidFill>
                <a:latin typeface="Georgia"/>
              </a:rPr>
              <a:t>O que já pode ser demonstrado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3026663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Rastrear (busca reversa)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Da informação para ferramentas, pessoas e vezes — a pergunta norteadora.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1828800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2011680"/>
            <a:ext cx="3026663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Motor de risco R01–R14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Nível por precedência + cadeia de evidência de cada evento.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7" y="1828800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7" y="2011680"/>
            <a:ext cx="3026663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Auditoria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Indicadores recalculados × declarados + os seis achados.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59936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42816"/>
            <a:ext cx="3026663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Validação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Os 15 casos oficiais, reproduzidos — 15/15.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4059936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4242816"/>
            <a:ext cx="3026663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Alertas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Fila por risco, com filtros por área, usuário, ferramenta, período.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7" y="4059936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7" y="4242816"/>
            <a:ext cx="3026663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Captura ao vivo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Extensão, agente e proxy, unificados ao legado, marcados pela origem.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CRITÉRIO 01 · MODELO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16211C"/>
                </a:solidFill>
                <a:latin typeface="Georgia"/>
              </a:rPr>
              <a:t>Qual modelo, e por quê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8007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1548993" cy="256032"/>
          </a:xfrm>
          <a:prstGeom prst="roundRect">
            <a:avLst>
              <a:gd name="adj" fmla="val 50000"/>
            </a:avLst>
          </a:prstGeom>
          <a:solidFill>
            <a:srgbClr val="E8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0F3B2C"/>
                </a:solidFill>
                <a:latin typeface="Menlo"/>
              </a:rPr>
              <a:t>CAMADA 1 · DECIDE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814316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IA clássica (motor próprio)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Regras R01–R14 com precedência + detectores (CPF/CNPJ/Luhn/credencial) + fingerprint MinHash/SimHash. Determinística, explicável, barata.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1828800"/>
            <a:ext cx="518007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68796" y="2011680"/>
            <a:ext cx="1923897" cy="256032"/>
          </a:xfrm>
          <a:prstGeom prst="roundRect">
            <a:avLst>
              <a:gd name="adj" fmla="val 50000"/>
            </a:avLst>
          </a:prstGeom>
          <a:solidFill>
            <a:srgbClr val="F3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0" bIns="0"/>
          <a:lstStyle/>
          <a:p>
            <a:pPr algn="ctr"/>
            <a:r>
              <a:rPr sz="900" b="1" spc="50">
                <a:solidFill>
                  <a:srgbClr val="6A2A78"/>
                </a:solidFill>
                <a:latin typeface="Menlo"/>
              </a:rPr>
              <a:t>CAMADA 2 · COMPLEMENTA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796" y="2377440"/>
            <a:ext cx="4814316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LLM — Claude (claude-opus-5)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Em cascata, só quando a regra não basta: linguagem natural no rastreio e na classificação. Devolve aprendizado à camada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114800"/>
            <a:ext cx="10424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16211C"/>
                </a:solidFill>
                <a:latin typeface="Helvetica Neue"/>
              </a:rPr>
              <a:t>Justificativa. </a:t>
            </a:r>
            <a:r>
              <a:rPr sz="1400" b="0">
                <a:solidFill>
                  <a:srgbClr val="5A6A62"/>
                </a:solidFill>
                <a:latin typeface="Helvetica Neue"/>
              </a:rPr>
              <a:t>Governança exige o porquê auditável de cada decisão (regras), mas o problema é linguagem natural (LLM). A cascata entrega os dois: a IA clássica resolve a maioria com evidência e custo zero de inferência; o LLM cobre o resíduo ambíguo e ensina a camada clássica — o sistema fica mais barato e mais preciso com o uso.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CRITÉRIO 02 ·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16211C"/>
                </a:solidFill>
                <a:latin typeface="Georgia"/>
              </a:rPr>
              <a:t>Componentes e integrações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828800"/>
            <a:ext cx="9601200" cy="749808"/>
          </a:xfrm>
          <a:prstGeom prst="roundRect">
            <a:avLst>
              <a:gd name="adj" fmla="val 6000"/>
            </a:avLst>
          </a:prstGeom>
          <a:solidFill>
            <a:srgbClr val="2B5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Helvetica Neue"/>
              </a:rPr>
              <a:t>Borda  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EAF3EE"/>
                </a:solidFill>
                <a:latin typeface="Helvetica Neue"/>
              </a:rPr>
              <a:t>Extensão MV3 (navegador) · Agente/serviço Windows (pywin32, deploy GPO/Intune) · Proxy MITM (opcional)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56032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C6B4D"/>
                </a:solidFill>
                <a:latin typeface="Helvetica Neue"/>
              </a:rP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779776"/>
            <a:ext cx="9601200" cy="749808"/>
          </a:xfrm>
          <a:prstGeom prst="roundRect">
            <a:avLst>
              <a:gd name="adj" fmla="val 600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Helvetica Neue"/>
              </a:rPr>
              <a:t>Coletor (HTTP, on-premise)  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EAF3EE"/>
                </a:solidFill>
                <a:latin typeface="Helvetica Neue"/>
              </a:rPr>
              <a:t>Resolve identidade no SO, grava a captura, dispara o pipeline, serve painel e APIs.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511296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C6B4D"/>
                </a:solidFill>
                <a:latin typeface="Helvetica Neue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730752"/>
            <a:ext cx="9601200" cy="749808"/>
          </a:xfrm>
          <a:prstGeom prst="roundRect">
            <a:avLst>
              <a:gd name="adj" fmla="val 6000"/>
            </a:avLst>
          </a:prstGeom>
          <a:solidFill>
            <a:srgbClr val="0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Helvetica Neue"/>
              </a:rPr>
              <a:t>Núcleo  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EAF3EE"/>
                </a:solidFill>
                <a:latin typeface="Helvetica Neue"/>
              </a:rPr>
              <a:t>Pipeline + motor (IA clássica: xlsx_min · regras/detectores/fingerprint · SQLite)  ⇄ cascata/aprendizado ⇄  LLM claude-opus-5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462272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C6B4D"/>
                </a:solidFill>
                <a:latin typeface="Helvetica Neue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4681728"/>
            <a:ext cx="9601200" cy="749808"/>
          </a:xfrm>
          <a:prstGeom prst="roundRect">
            <a:avLst>
              <a:gd name="adj" fmla="val 6000"/>
            </a:avLst>
          </a:prstGeom>
          <a:solidFill>
            <a:srgbClr val="2B5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Helvetica Neue"/>
              </a:rPr>
              <a:t>Base unificada (SQLite) + motor.js  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EAF3EE"/>
                </a:solidFill>
                <a:latin typeface="Helvetica Neue"/>
              </a:rPr>
              <a:t>Legado (Excel) + presente (capturas), mesma tabela; motor portado ao navegador com paridade.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41324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C6B4D"/>
                </a:solidFill>
                <a:latin typeface="Helvetica Neue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5632704"/>
            <a:ext cx="9601200" cy="749808"/>
          </a:xfrm>
          <a:prstGeom prst="roundRect">
            <a:avLst>
              <a:gd name="adj" fmla="val 600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Helvetica Neue"/>
              </a:rPr>
              <a:t>Painel  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EAF3EE"/>
                </a:solidFill>
                <a:latin typeface="Helvetica Neue"/>
              </a:rPr>
              <a:t>Panorama · Rastrear · Alertas · Auditoria · Validação · Política · Inventário · Captura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28232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A6A62"/>
                </a:solidFill>
                <a:latin typeface="Helvetica Neue"/>
              </a:rPr>
              <a:t>On-premise: núcleo em VLAN sem saída (docker-compose); gateway de notificação na DMZ é a única peça com saída.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CRITÉRIO 03 · FLUXO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0">
                <a:solidFill>
                  <a:srgbClr val="16211C"/>
                </a:solidFill>
                <a:latin typeface="Georgia"/>
              </a:rPr>
              <a:t>Entrada, processamento e retroalimentação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16211C"/>
                </a:solidFill>
                <a:latin typeface="Helvetica Neue"/>
              </a:rPr>
              <a:t>Entrada: </a:t>
            </a:r>
            <a:r>
              <a:rPr sz="1350" b="0">
                <a:solidFill>
                  <a:srgbClr val="5A6A62"/>
                </a:solidFill>
                <a:latin typeface="Helvetica Neue"/>
              </a:rPr>
              <a:t>planilha (legado, via xlsx_min) + capturas da borda (presente, identidade no SO). </a:t>
            </a:r>
            <a:r>
              <a:rPr sz="1350" b="1">
                <a:solidFill>
                  <a:srgbClr val="16211C"/>
                </a:solidFill>
                <a:latin typeface="Helvetica Neue"/>
              </a:rPr>
              <a:t>Processamento: </a:t>
            </a:r>
            <a:r>
              <a:rPr sz="1350" b="0">
                <a:solidFill>
                  <a:srgbClr val="5A6A62"/>
                </a:solidFill>
                <a:latin typeface="Helvetica Neue"/>
              </a:rPr>
              <a:t>coletor grava → pipeline roda o motor → SQLite → painel. Legado e presente, o mesmo motor.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spc="60">
                <a:solidFill>
                  <a:srgbClr val="0F3B2C"/>
                </a:solidFill>
                <a:latin typeface="Menlo"/>
              </a:rPr>
              <a:t>RETROALIMENTAÇÃO — TRÊS LAÇOS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10515600" cy="786384"/>
          </a:xfrm>
          <a:prstGeom prst="roundRect">
            <a:avLst>
              <a:gd name="adj" fmla="val 6000"/>
            </a:avLst>
          </a:prstGeom>
          <a:solidFill>
            <a:srgbClr val="F3E6F6"/>
          </a:solidFill>
          <a:ln w="9525">
            <a:solidFill>
              <a:srgbClr val="E3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300" b="1">
                <a:solidFill>
                  <a:srgbClr val="6A2A78"/>
                </a:solidFill>
                <a:latin typeface="Helvetica Neue"/>
              </a:rPr>
              <a:t>↺  LLM → IA clássica.  </a:t>
            </a:r>
            <a:r>
              <a:rPr sz="1300" b="0">
                <a:solidFill>
                  <a:srgbClr val="4A1D54"/>
                </a:solidFill>
                <a:latin typeface="Helvetica Neue"/>
              </a:rPr>
              <a:t>o que o LLM resolve vira padrão candidato de volta — menos LLM ao longo do tempo.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33087"/>
            <a:ext cx="10515600" cy="786384"/>
          </a:xfrm>
          <a:prstGeom prst="roundRect">
            <a:avLst>
              <a:gd name="adj" fmla="val 6000"/>
            </a:avLst>
          </a:prstGeom>
          <a:solidFill>
            <a:srgbClr val="F3E6F6"/>
          </a:solidFill>
          <a:ln w="9525">
            <a:solidFill>
              <a:srgbClr val="E3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300" b="1">
                <a:solidFill>
                  <a:srgbClr val="6A2A78"/>
                </a:solidFill>
                <a:latin typeface="Helvetica Neue"/>
              </a:rPr>
              <a:t>↺  Inventário → motor.  </a:t>
            </a:r>
            <a:r>
              <a:rPr sz="1300" b="0">
                <a:solidFill>
                  <a:srgbClr val="4A1D54"/>
                </a:solidFill>
                <a:latin typeface="Helvetica Neue"/>
              </a:rPr>
              <a:t>aprovar/reprovar uma ferramenta reclassifica as capturas dela na regeneração seguinte.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65775"/>
            <a:ext cx="10515600" cy="786384"/>
          </a:xfrm>
          <a:prstGeom prst="roundRect">
            <a:avLst>
              <a:gd name="adj" fmla="val 6000"/>
            </a:avLst>
          </a:prstGeom>
          <a:solidFill>
            <a:srgbClr val="F3E6F6"/>
          </a:solidFill>
          <a:ln w="9525">
            <a:solidFill>
              <a:srgbClr val="E3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300" b="1">
                <a:solidFill>
                  <a:srgbClr val="6A2A78"/>
                </a:solidFill>
                <a:latin typeface="Helvetica Neue"/>
              </a:rPr>
              <a:t>↺  Auditoria → política.  </a:t>
            </a:r>
            <a:r>
              <a:rPr sz="1300" b="0">
                <a:solidFill>
                  <a:srgbClr val="4A1D54"/>
                </a:solidFill>
                <a:latin typeface="Helvetica Neue"/>
              </a:rPr>
              <a:t>os achados realimentam a política — a lacuna do A-06 propõe a regra R15.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SEGURANÇA E PRIVACIDADE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16211C"/>
                </a:solidFill>
                <a:latin typeface="Georgia"/>
              </a:rPr>
              <a:t>Por desenho, não por promessa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3026663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Processamento na borda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Detectores/fingerprint locais; metadado nunca grava o valor do dado — só tipo e contagem.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1828800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2011680"/>
            <a:ext cx="3026663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Identidade confiável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Usuário logado no SO, resolvido no coletor — a página nunca decide.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7" y="1828800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7" y="2011680"/>
            <a:ext cx="3026663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Isolamento on-premise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Núcleo em VLAN sem saída; só a DMZ fala com fora.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59936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42816"/>
            <a:ext cx="3026663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LGPD embutida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Detecta dado pessoal em IA pública e marca a obrigação (o A-02 mostra onde some).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4059936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4242816"/>
            <a:ext cx="3026663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MITM opt-in e avisado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Interceptação só com aval de Segurança, CA corporativa e aviso aos usuários.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7" y="4059936"/>
            <a:ext cx="3392423" cy="2066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7" y="4242816"/>
            <a:ext cx="3026663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Serviço travado por senha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Pausar/desinstalar exige senha (PBKDF2-SHA256); usuário comum não para.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LIMITAÇÕES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0">
                <a:solidFill>
                  <a:srgbClr val="16211C"/>
                </a:solidFill>
                <a:latin typeface="Georgia"/>
              </a:rPr>
              <a:t>O que já apareceu — e o que fizemos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16211C"/>
                </a:solidFill>
                <a:latin typeface="Helvetica Neue"/>
              </a:rPr>
              <a:t>Sensor vê conexão, não conteúdo (TLS)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828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A6A62"/>
                </a:solidFill>
                <a:latin typeface="Helvetica Neue"/>
              </a:rPr>
              <a:t>por desenho; conteúdo com a extensão / MITM opt-in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76272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04288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16211C"/>
                </a:solidFill>
                <a:latin typeface="Helvetica Neue"/>
              </a:rPr>
              <a:t>DNS reverso não resolve em CDN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30428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3B2C"/>
                </a:solidFill>
                <a:latin typeface="Helvetica Neue"/>
              </a:rPr>
              <a:t>RESOLVIDO — índice de IPs + cache de DNS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51760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7977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16211C"/>
                </a:solidFill>
                <a:latin typeface="Helvetica Neue"/>
              </a:rPr>
              <a:t>Falso-positivo de IP de CDN compartilhado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77977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3B2C"/>
                </a:solidFill>
                <a:latin typeface="Helvetica Neue"/>
              </a:rPr>
              <a:t>RESOLVIDO — cache de DNS filtra o ruído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127248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55264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16211C"/>
                </a:solidFill>
                <a:latin typeface="Helvetica Neue"/>
              </a:rPr>
              <a:t>Fingerprint não pega paráfrase; varredura linear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25526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A6A62"/>
                </a:solidFill>
                <a:latin typeface="Helvetica Neue"/>
              </a:rPr>
              <a:t>pega recorte/colagem; em escala vira LSH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602736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30752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16211C"/>
                </a:solidFill>
                <a:latin typeface="Helvetica Neue"/>
              </a:rPr>
              <a:t>Paridade de hash FNV-1a × blake2b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3075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A6A62"/>
                </a:solidFill>
                <a:latin typeface="Helvetica Neue"/>
              </a:rPr>
              <a:t>pendente (fase 2); não afeta o motor de regras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78224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16211C"/>
                </a:solidFill>
                <a:latin typeface="Helvetica Neue"/>
              </a:rPr>
              <a:t>Extração de conteúdo por site (APIs mudam)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206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A6A62"/>
                </a:solidFill>
                <a:latin typeface="Helvetica Neue"/>
              </a:rPr>
              <a:t>best-effort por ferramenta, com fallback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553712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681727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16211C"/>
                </a:solidFill>
                <a:latin typeface="Helvetica Neue"/>
              </a:rPr>
              <a:t>Atritos no Windows (Store, policy, ACL pt-BR, rede)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681727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3B2C"/>
                </a:solidFill>
                <a:latin typeface="Helvetica Neue"/>
              </a:rPr>
              <a:t>RESOLVIDOS no instalador durante os testes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029199"/>
            <a:ext cx="10515600" cy="6350"/>
          </a:xfrm>
          <a:prstGeom prst="rect">
            <a:avLst/>
          </a:prstGeom>
          <a:solidFill>
            <a:srgbClr val="DD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AS 6 PERGUNTAS DA SEMANA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56032" cy="219456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417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Menlo"/>
              </a:rPr>
              <a:t>01  </a:t>
            </a:r>
            <a:r>
              <a:rPr sz="2200" b="0">
                <a:solidFill>
                  <a:srgbClr val="0F3B2C"/>
                </a:solidFill>
                <a:latin typeface="Georgia"/>
              </a:rPr>
              <a:t>Como a solução funciona?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6211C"/>
                </a:solidFill>
                <a:latin typeface="Helvetica Neue"/>
              </a:rPr>
              <a:t>Três camadas de captura na borda → coletor (identidade no SO) → núcleo (IA clássica + LLM em cascata) → SQLite → painel. Legado e presente passam pelo mesmo motor; o painel dá busca reversa, alertas com evidência e indicadores recalculados.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256032" cy="219456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069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Menlo"/>
              </a:rPr>
              <a:t>02  </a:t>
            </a:r>
            <a:r>
              <a:rPr sz="2200" b="0">
                <a:solidFill>
                  <a:srgbClr val="0F3B2C"/>
                </a:solidFill>
                <a:latin typeface="Georgia"/>
              </a:rPr>
              <a:t>Quais funções já podem ser demonstradas?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66344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6211C"/>
                </a:solidFill>
                <a:latin typeface="Helvetica Neue"/>
              </a:rPr>
              <a:t>Todas as centrais, ao vivo: Rastrear, motor de risco com evidência, Auditoria (indicadores + 6 achados), Validação 15/15, Alertas com filtros e captura nas três camadas com a origem marcada. Os dois motores têm paridade testada.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AS 6 PERGUNTAS DA SEMANA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56032" cy="219456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417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Menlo"/>
              </a:rPr>
              <a:t>03  </a:t>
            </a:r>
            <a:r>
              <a:rPr sz="2200" b="0">
                <a:solidFill>
                  <a:srgbClr val="0F3B2C"/>
                </a:solidFill>
                <a:latin typeface="Georgia"/>
              </a:rPr>
              <a:t>Qual modelo será utilizado e por quê?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6211C"/>
                </a:solidFill>
                <a:latin typeface="Helvetica Neue"/>
              </a:rPr>
              <a:t>IA clássica (regras + detectores + fingerprint) como decisor, e LLM Claude (claude-opus-5) em cascata para linguagem natural. Governança exige decisão auditável (regras), a realidade é linguagem natural (LLM); a cascata entrega os dois, e o aprendizado reduz o custo do LLM.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256032" cy="219456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069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Menlo"/>
              </a:rPr>
              <a:t>04  </a:t>
            </a:r>
            <a:r>
              <a:rPr sz="2200" b="0">
                <a:solidFill>
                  <a:srgbClr val="0F3B2C"/>
                </a:solidFill>
                <a:latin typeface="Georgia"/>
              </a:rPr>
              <a:t>De onde vêm os dados?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66344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6211C"/>
                </a:solidFill>
                <a:latin typeface="Helvetica Neue"/>
              </a:rPr>
              <a:t>Legado: base oficial (650 eventos, 160 alertas, 8 ferramentas, 20 tipos, 72 usuários, 14 regras, 12 abas; fictícios). Presente: capturas ao vivo com identidade no SO. Os dois no mesmo motor.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AS 6 PERGUNTAS DA SEMANA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56032" cy="219456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417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Menlo"/>
              </a:rPr>
              <a:t>05  </a:t>
            </a:r>
            <a:r>
              <a:rPr sz="2200" b="0">
                <a:solidFill>
                  <a:srgbClr val="0F3B2C"/>
                </a:solidFill>
                <a:latin typeface="Georgia"/>
              </a:rPr>
              <a:t>Como os dados serão utilizados e retroalimentados?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6211C"/>
                </a:solidFill>
                <a:latin typeface="Helvetica Neue"/>
              </a:rPr>
              <a:t>Usados para reaplicar a política e gerar risco, alertas e indicadores com evidência. Três laços: o LLM ensina a IA clássica; o inventário reclassifica as capturas quando o status muda; a auditoria realimenta a política (A-06 → R15).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256032" cy="2194560"/>
          </a:xfrm>
          <a:prstGeom prst="roundRect">
            <a:avLst>
              <a:gd name="adj" fmla="val 0"/>
            </a:avLst>
          </a:prstGeom>
          <a:solidFill>
            <a:srgbClr val="1C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069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C6B4D"/>
                </a:solidFill>
                <a:latin typeface="Menlo"/>
              </a:rPr>
              <a:t>06  </a:t>
            </a:r>
            <a:r>
              <a:rPr sz="2200" b="0">
                <a:solidFill>
                  <a:srgbClr val="0F3B2C"/>
                </a:solidFill>
                <a:latin typeface="Georgia"/>
              </a:rPr>
              <a:t>Quais limitações técnicas já apareceram?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66344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6211C"/>
                </a:solidFill>
                <a:latin typeface="Helvetica Neue"/>
              </a:rPr>
              <a:t>Sensor vê metadado, não conteúdo (TLS); DNS reverso e IP de CDN davam ruído (resolvidos com índice de IPs + cache de DNS); fingerprint não pega paráfrase (LSH em escala); paridade de hash pendente (fase 2); atritos de deploy no Windows corrigidos no instalador.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60">
                <a:solidFill>
                  <a:srgbClr val="1C6B4D"/>
                </a:solidFill>
                <a:latin typeface="Menlo"/>
              </a:rPr>
              <a:t>CRITÉRIO DA SEMANA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16211C"/>
                </a:solidFill>
                <a:latin typeface="Georgia"/>
              </a:rPr>
              <a:t>Arquitetura, dados e uso da 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80076" cy="1929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814316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01 · Modelo de IA e justificativa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IA clássica (decisor auditável) + LLM claude-opus-5 em cascata, com aprendizado de volta.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5916" y="1828800"/>
            <a:ext cx="5180076" cy="1929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8796" y="2011680"/>
            <a:ext cx="4814316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02 · Arquitetura da solução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Borda (3 camadas) → coletor → núcleo → base → painel; on-premise com VLAN isolada e DMZ.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22776"/>
            <a:ext cx="5180076" cy="1929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05656"/>
            <a:ext cx="4814316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03 · Fluxo de dados e retroalimentação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Legado + presente no mesmo motor; três laços (LLM→clássica, inventário→motor, auditoria→política).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3922776"/>
            <a:ext cx="5180076" cy="1929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8796" y="4105656"/>
            <a:ext cx="4814316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6211C"/>
                </a:solidFill>
                <a:latin typeface="Helvetica Neue"/>
              </a:rPr>
              <a:t>04 · Protótipo V1 e função principal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5A6A62"/>
                </a:solidFill>
                <a:latin typeface="Helvetica Neue"/>
              </a:rPr>
              <a:t>Roda de verdade (15/15, 98,8%); função principal — busca reversa — demonstrável ao vivo.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