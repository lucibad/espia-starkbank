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ITA CHALLENGE SPRINT · SEMANA 1 · DIAGNÓSTICO DO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600" b="0">
                <a:solidFill>
                  <a:srgbClr val="16211C"/>
                </a:solidFill>
                <a:latin typeface="Georgia"/>
              </a:rPr>
              <a:t>A empresa registra o uso de IA.
Não consegue confiar no registro.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9768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550" b="0">
                <a:solidFill>
                  <a:srgbClr val="5A6A62"/>
                </a:solidFill>
                <a:latin typeface="Helvetica Neue"/>
              </a:rPr>
              <a:t>Governança de informação em ferramentas de IA no Stark Bank. Nesta primeira semana definimos o problema, provamos que ele existe na própria base da empresa e recortamos o que cabe no Sprint.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A6A62"/>
                </a:solidFill>
                <a:latin typeface="Menlo"/>
              </a:rPr>
              <a:t>GerencIA  ·  rastreabilidade e governança de IA   ·   base oficial: 650 eventos · 72 usuários · 8 ferramentas · 14 regras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A DECISÃO QUE PRECISA MELHORAR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>
                <a:solidFill>
                  <a:srgbClr val="16211C"/>
                </a:solidFill>
                <a:latin typeface="Georgia"/>
              </a:rPr>
              <a:t>Como o Compliance decide o que é risco —
e como audita essa decisão depois.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550" b="0">
                <a:solidFill>
                  <a:srgbClr val="5A6A62"/>
                </a:solidFill>
                <a:latin typeface="Helvetica Neue"/>
              </a:rPr>
              <a:t>Hoje cada uso de IA já chega classificado e com uma regra citada. Mas a classificação é confiada, não verificada, e não há linhagem que ligue uma informação às ferramentas e às pessoas por onde ela passou.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66160"/>
            <a:ext cx="5170931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3767328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spc="60">
                <a:solidFill>
                  <a:srgbClr val="A3312A"/>
                </a:solidFill>
                <a:latin typeface="Menlo"/>
              </a:rPr>
              <a:t>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51376"/>
            <a:ext cx="4768595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Log de atividade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“O usuário X acessou a ferramenta Y às 14h.” O registro existe, mas responde à pergunta errada e ninguém confere se a regra citada corresponde ao que aconteceu.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3566160"/>
            <a:ext cx="5170931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6227" y="376732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spc="60">
                <a:solidFill>
                  <a:srgbClr val="0F3B2C"/>
                </a:solidFill>
                <a:latin typeface="Menlo"/>
              </a:rPr>
              <a:t>RECORTE PROPOSTO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227" y="4151376"/>
            <a:ext cx="4768595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Linhagem da informação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“A chave/API secret apareceu em 5 ferramentas, com 30 pessoas, 35 vezes — 3 em IA pública.” A busca começa no documento, reaplica a política e audita a rotulagem.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POR QUE É RELEVANTE PARA O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>
                <a:solidFill>
                  <a:srgbClr val="16211C"/>
                </a:solidFill>
                <a:latin typeface="Georgia"/>
              </a:rPr>
              <a:t>Fintech regulada. O que vaza para uma
IA pública não volta.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550" b="0">
                <a:solidFill>
                  <a:srgbClr val="5A6A62"/>
                </a:solidFill>
                <a:latin typeface="Helvetica Neue"/>
              </a:rPr>
              <a:t>O Stark Bank opera sob LGPD e regulação bancária. O material que transita nas ferramentas de IA é exatamente o mais sensível — e a exposição é jurídica, de segurança e de propriedade intelectual ao mesmo tempo.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3380232" cy="13487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21608"/>
            <a:ext cx="2977896" cy="1046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Dado pessoal · CPF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LGPD: obrigação de resposta de privacidade e possível comunicação ao titular e à ANPD.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3520440"/>
            <a:ext cx="3380232" cy="13487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5528" y="3721608"/>
            <a:ext cx="2977896" cy="1046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Chave / API secret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Credencial exposta é acesso a sistema. Risco crítico em qualquer ferramenta.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60" y="3520440"/>
            <a:ext cx="3380232" cy="13487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6928" y="3721608"/>
            <a:ext cx="2977896" cy="1046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Financeiro não divulgado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Informação material antes da hora — risco regulatório e de mercado.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52060"/>
            <a:ext cx="3380232" cy="13487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253228"/>
            <a:ext cx="2977896" cy="104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Código confidencial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Propriedade intelectual do banco entregue a um modelo de terceiro.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4360" y="5052060"/>
            <a:ext cx="3380232" cy="13487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5528" y="5253228"/>
            <a:ext cx="2977896" cy="104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Ferramenta não aprovada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12,3% dos usos ocorrem fora das ferramentas homologadas.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5760" y="5052060"/>
            <a:ext cx="3380232" cy="13487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253228"/>
            <a:ext cx="2977896" cy="104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IA pública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Conteúdo enviado pode alimentar treino e sair do controle do banco.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COMPROVAÇÃO POR EVIDÊNCIAS · AUDITORIA DA BASE OFICIAL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0">
                <a:solidFill>
                  <a:srgbClr val="16211C"/>
                </a:solidFill>
                <a:latin typeface="Georgia"/>
              </a:rPr>
              <a:t>O problema não é hipótese. Está na base
que a própria empresa entregou.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550" b="0">
                <a:solidFill>
                  <a:srgbClr val="5A6A62"/>
                </a:solidFill>
                <a:latin typeface="Helvetica Neue"/>
              </a:rPr>
              <a:t>Reaplicamos as 14 regras da política aos 650 eventos e auditamos a rotulagem já existente. Seis achados, todos verificáveis célula a célula na planilha: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826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3B2C"/>
                </a:solidFill>
                <a:latin typeface="Menlo"/>
              </a:rPr>
              <a:t>A-01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2461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9660F"/>
                </a:solidFill>
                <a:latin typeface="Georgia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255264"/>
            <a:ext cx="8458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16211C"/>
                </a:solidFill>
                <a:latin typeface="Helvetica Neue"/>
              </a:rPr>
              <a:t>Eventos citam regra de “ferramenta aprovada”, mas ocorreram em IA pública.  </a:t>
            </a:r>
            <a:r>
              <a:rPr sz="1300" b="0">
                <a:solidFill>
                  <a:srgbClr val="5A6A62"/>
                </a:solidFill>
                <a:latin typeface="Helvetica Neue"/>
              </a:rPr>
              <a:t>A trilha de auditoria induz o auditor a erro.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5032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6732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3B2C"/>
                </a:solidFill>
                <a:latin typeface="Menlo"/>
              </a:rPr>
              <a:t>A-02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73075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9660F"/>
                </a:solidFill>
                <a:latin typeface="Georgia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739896"/>
            <a:ext cx="8458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16211C"/>
                </a:solidFill>
                <a:latin typeface="Helvetica Neue"/>
              </a:rPr>
              <a:t>Fechados com regra genérica onde há regra específica (R04/R05/R06).  </a:t>
            </a:r>
            <a:r>
              <a:rPr sz="1300" b="0">
                <a:solidFill>
                  <a:srgbClr val="5A6A62"/>
                </a:solidFill>
                <a:latin typeface="Helvetica Neue"/>
              </a:rPr>
              <a:t>A obrigação de LGPD desaparece do registro.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69664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3B2C"/>
                </a:solidFill>
                <a:latin typeface="Menlo"/>
              </a:rPr>
              <a:t>A-03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1538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9660F"/>
                </a:solidFill>
                <a:latin typeface="Georgia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224528"/>
            <a:ext cx="8458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16211C"/>
                </a:solidFill>
                <a:latin typeface="Helvetica Neue"/>
              </a:rPr>
              <a:t>Conteúdo interno/confidencial no gerador de imagens “só público”.  </a:t>
            </a:r>
            <a:r>
              <a:rPr sz="1300" b="0">
                <a:solidFill>
                  <a:srgbClr val="5A6A62"/>
                </a:solidFill>
                <a:latin typeface="Helvetica Neue"/>
              </a:rPr>
              <a:t>Deveriam ser Alto e virar alerta — não viraram.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54296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365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3B2C"/>
                </a:solidFill>
                <a:latin typeface="Menlo"/>
              </a:rPr>
              <a:t>A-04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0001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9660F"/>
                </a:solidFill>
                <a:latin typeface="Georgia"/>
              </a:rPr>
              <a:t>6/14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709159"/>
            <a:ext cx="8458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16211C"/>
                </a:solidFill>
                <a:latin typeface="Helvetica Neue"/>
              </a:rPr>
              <a:t>Regras que nunca disparam.  </a:t>
            </a:r>
            <a:r>
              <a:rPr sz="1300" b="0">
                <a:solidFill>
                  <a:srgbClr val="5A6A62"/>
                </a:solidFill>
                <a:latin typeface="Helvetica Neue"/>
              </a:rPr>
              <a:t>A política aparenta 14 controles e opera com 8.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138928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21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3B2C"/>
                </a:solidFill>
                <a:latin typeface="Menlo"/>
              </a:rPr>
              <a:t>A-05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18464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9660F"/>
                </a:solidFill>
                <a:latin typeface="Georgia"/>
              </a:rPr>
              <a:t>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193792"/>
            <a:ext cx="8458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16211C"/>
                </a:solidFill>
                <a:latin typeface="Helvetica Neue"/>
              </a:rPr>
              <a:t>Alertas “tratados” sem data de tratamento.  </a:t>
            </a:r>
            <a:r>
              <a:rPr sz="1300" b="0">
                <a:solidFill>
                  <a:srgbClr val="5A6A62"/>
                </a:solidFill>
                <a:latin typeface="Helvetica Neue"/>
              </a:rPr>
              <a:t>O SLA de 24h é declarado, não medido.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623560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0585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3B2C"/>
                </a:solidFill>
                <a:latin typeface="Menlo"/>
              </a:rPr>
              <a:t>A-06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66928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9660F"/>
                </a:solidFill>
                <a:latin typeface="Georgia"/>
              </a:rPr>
              <a:t>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678424"/>
            <a:ext cx="8458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16211C"/>
                </a:solidFill>
                <a:latin typeface="Helvetica Neue"/>
              </a:rPr>
              <a:t>Combinação que nenhuma regra cobre.  </a:t>
            </a:r>
            <a:r>
              <a:rPr sz="1300" b="0">
                <a:solidFill>
                  <a:srgbClr val="5A6A62"/>
                </a:solidFill>
                <a:latin typeface="Helvetica Neue"/>
              </a:rPr>
              <a:t>Lacuna de política — propomos a regra R15.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COMPROVAÇÃO POR EVIDÊNCIAS · O NÚMERO QUE DECIDE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0543032" cy="1600200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3444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5800" b="1">
                <a:solidFill>
                  <a:srgbClr val="FFFFFF"/>
                </a:solidFill>
                <a:latin typeface="Georgia"/>
              </a:rPr>
              <a:t>7 </a:t>
            </a:r>
            <a:r>
              <a:rPr sz="2200" b="0">
                <a:solidFill>
                  <a:srgbClr val="8FBFA6"/>
                </a:solidFill>
                <a:latin typeface="Helvetica Neue"/>
              </a:rPr>
              <a:t>de </a:t>
            </a:r>
            <a:r>
              <a:rPr sz="5800" b="1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280160"/>
            <a:ext cx="67665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650" b="0">
                <a:solidFill>
                  <a:srgbClr val="EAF3EE"/>
                </a:solidFill>
                <a:latin typeface="Helvetica Neue"/>
              </a:rPr>
              <a:t>indicadores que a empresa declara divergem do que a base realmente mostra quando recalculada.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33802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172968"/>
            <a:ext cx="2977896" cy="1801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6,8% → 16,6%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Eventos críticos: a empresa subnotifica a própria exposição em ~2,4×.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2971800"/>
            <a:ext cx="33802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5528" y="3172968"/>
            <a:ext cx="2977896" cy="1801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61 → 72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Usuários ativos com IA: 11 pessoas a mais do que o painel oficial conta.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5760" y="2971800"/>
            <a:ext cx="33802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6928" y="3172968"/>
            <a:ext cx="2977896" cy="1801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72% → ?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“Alertas tratados em 24h”: não apurável — não existe carimbo de tempo.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3492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550" b="0">
                <a:solidFill>
                  <a:srgbClr val="5A6A62"/>
                </a:solidFill>
                <a:latin typeface="Helvetica Neue"/>
              </a:rPr>
              <a:t>Quando a decisão de governança se apoia num painel que erra por 2,4× para menos, a empresa acredita estar mais segura do que está.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QUEM É IMPACTADO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0">
                <a:solidFill>
                  <a:srgbClr val="16211C"/>
                </a:solidFill>
                <a:latin typeface="Georgia"/>
              </a:rPr>
              <a:t>Cinco frentes, uma cadeia só.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802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04288"/>
            <a:ext cx="2977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Compliance / DPO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Audita sobre uma trilha que confunde registro com evidência. Precisa provar o fluxo.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2103120"/>
            <a:ext cx="33802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5528" y="2304288"/>
            <a:ext cx="2977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Segurança / CISO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Segredos e código expostos a terceiros, sem visão de qual informação saiu por onde.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5760" y="2103120"/>
            <a:ext cx="33802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6928" y="2304288"/>
            <a:ext cx="2977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72 usuários · 12 áreas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Usam IA no trabalho real, sem regra clara e consequência para os casos comuns.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97680"/>
            <a:ext cx="33802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498848"/>
            <a:ext cx="2977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Direção / Conselho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Decide risco sobre indicadores que erram por 2,4×. Exposição regulatória e reputacional.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4360" y="4297680"/>
            <a:ext cx="33802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5528" y="4498848"/>
            <a:ext cx="2977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Clientes / titulares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Dados pessoais podem alcançar uma IA pública sem a resposta de privacidade da LGPD.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5760" y="4297680"/>
            <a:ext cx="3380232" cy="2011680"/>
          </a:xfrm>
          <a:prstGeom prst="roundRect">
            <a:avLst>
              <a:gd name="adj" fmla="val 6000"/>
            </a:avLst>
          </a:prstGeom>
          <a:solidFill>
            <a:srgbClr val="E8F1EA"/>
          </a:solidFill>
          <a:ln w="9525">
            <a:solidFill>
              <a:srgbClr val="CF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6928" y="4498848"/>
            <a:ext cx="2977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3B2C"/>
                </a:solidFill>
                <a:latin typeface="Helvetica Neue"/>
              </a:rPr>
              <a:t>O elo que falta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0F3B2C"/>
                </a:solidFill>
                <a:latin typeface="Helvetica Neue"/>
              </a:rPr>
              <a:t>Ninguém consegue partir de uma informação e ver toda a sua trajetória. É o que entregamos.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QUAL IMPACTO O PROBLEMA GERA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0">
                <a:solidFill>
                  <a:srgbClr val="16211C"/>
                </a:solidFill>
                <a:latin typeface="Georgia"/>
              </a:rPr>
              <a:t>O custo de não enxergar.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70931" cy="2002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2304288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F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spc="60">
                <a:solidFill>
                  <a:srgbClr val="A3312A"/>
                </a:solidFill>
                <a:latin typeface="Menlo"/>
              </a:rPr>
              <a:t>REGULATÓRIO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88336"/>
            <a:ext cx="4768595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Regulatório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Dado pessoal em IA pública sem a resposta de privacidade prevista — exposição a LGPD e à regulação bancária, com a obrigação sumindo do registro (A-02).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59" y="2103120"/>
            <a:ext cx="5170931" cy="2002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6227" y="2304288"/>
            <a:ext cx="1408176" cy="274320"/>
          </a:xfrm>
          <a:prstGeom prst="roundRect">
            <a:avLst>
              <a:gd name="adj" fmla="val 50000"/>
            </a:avLst>
          </a:prstGeom>
          <a:solidFill>
            <a:srgbClr val="F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spc="60">
                <a:solidFill>
                  <a:srgbClr val="A3312A"/>
                </a:solidFill>
                <a:latin typeface="Menlo"/>
              </a:rPr>
              <a:t>SEGURANÇA / 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6227" y="2688336"/>
            <a:ext cx="4768595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Segurança / PI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Credenciais e código confidencial entregues a modelos de terceiros, sem trilha de qual informação, de quem, por onde.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06824"/>
            <a:ext cx="5170931" cy="2002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4507992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F7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spc="60">
                <a:solidFill>
                  <a:srgbClr val="A9660F"/>
                </a:solidFill>
                <a:latin typeface="Menlo"/>
              </a:rPr>
              <a:t>DADO ERRADO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892040"/>
            <a:ext cx="4768595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Decisão sobre dado errado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Governança apoiada num painel que subnotifica o risco crítico em 2,4× e mede um SLA que não é apurável.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4306824"/>
            <a:ext cx="5170931" cy="2002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6227" y="4507992"/>
            <a:ext cx="996695" cy="274320"/>
          </a:xfrm>
          <a:prstGeom prst="roundRect">
            <a:avLst>
              <a:gd name="adj" fmla="val 50000"/>
            </a:avLst>
          </a:prstGeom>
          <a:solidFill>
            <a:srgbClr val="F7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spc="60">
                <a:solidFill>
                  <a:srgbClr val="A9660F"/>
                </a:solidFill>
                <a:latin typeface="Menlo"/>
              </a:rPr>
              <a:t>AUDITORIA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227" y="4892040"/>
            <a:ext cx="4768595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Auditoria não conclusiva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>
                <a:solidFill>
                  <a:srgbClr val="5A6A62"/>
                </a:solidFill>
                <a:latin typeface="Helvetica Neue"/>
              </a:rPr>
              <a:t>A política aparenta 14 controles e opera com 8; a trilha induz o auditor a erro. Uma auditoria real não fecha.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O RECORTE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0">
                <a:solidFill>
                  <a:srgbClr val="16211C"/>
                </a:solidFill>
                <a:latin typeface="Georgia"/>
              </a:rPr>
              <a:t>O que cabe no Sprint — e o que fica de fora.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120">
                <a:solidFill>
                  <a:srgbClr val="1C6B4D"/>
                </a:solidFill>
                <a:latin typeface="Menlo"/>
              </a:rPr>
              <a:t>◢ DENTRO DO PROTÓTIPO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01568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74320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Busca reversa da informação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— do documento para as ferramentas e pessoas.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51376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493008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Reaplicação da política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com precedência declarada e cadeia de evidências.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901183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42816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24281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Auditoria da rotulagem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existente: os seis achados e os indicadores recalculados.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650992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9262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992624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Alertas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por nível de risco, com filtros por área, usuário e período.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400800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5742432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Captura na borda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(extensão + sensor) como presente, unificada ao legado.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120">
                <a:solidFill>
                  <a:srgbClr val="A9660F"/>
                </a:solidFill>
                <a:latin typeface="Menlo"/>
              </a:rPr>
              <a:t>◣ FORA DO PROTÓTIPO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401568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7432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A9660F"/>
                </a:solidFill>
                <a:latin typeface="Helvetica Neue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74320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Bloqueio ativo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(prevenção em linha). O sistema observa e governa; não interrompe.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151376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49300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A9660F"/>
                </a:solidFill>
                <a:latin typeface="Helvetica Neue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3493008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Leitura de conteúdo cifrado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(MITM). O sensor registra metadado, nunca o texto.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901183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242816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A9660F"/>
                </a:solidFill>
                <a:latin typeface="Helvetica Neue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24281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Detecção de paráfrase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no fingerprint — pega recorte e colagem, não reescrita.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650992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99262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A9660F"/>
                </a:solidFill>
                <a:latin typeface="Helvetica Neue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4992624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Integração de produção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com SIEM/IdP — mostramos o contrato, não a ligação final.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6400800"/>
            <a:ext cx="493776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74243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A9660F"/>
                </a:solidFill>
                <a:latin typeface="Helvetica Neue"/>
              </a:rPr>
              <a:t>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5742432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Substituir o DLP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corporativo — demonstramos a camada, não trocamos a existente.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COMO ISTO RESPONDE AO CRITÉRIO DA SEMANA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>
                <a:solidFill>
                  <a:srgbClr val="16211C"/>
                </a:solidFill>
                <a:latin typeface="Georgia"/>
              </a:rPr>
              <a:t>Relevância e clareza do problema.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C6B4D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12848"/>
            <a:ext cx="9418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6211C"/>
                </a:solidFill>
                <a:latin typeface="Helvetica Neue"/>
              </a:rPr>
              <a:t>Compreensão do problema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350" b="0">
                <a:solidFill>
                  <a:srgbClr val="5A6A62"/>
                </a:solidFill>
                <a:latin typeface="Helvetica Neue"/>
              </a:rPr>
              <a:t>Reenquadrado: o problema não é registrar uso, é confiar no registro e ter linhagem da informação.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86784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6382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C6B4D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82112"/>
            <a:ext cx="9418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6211C"/>
                </a:solidFill>
                <a:latin typeface="Helvetica Neue"/>
              </a:rPr>
              <a:t>Relevância para o negócio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350" b="0">
                <a:solidFill>
                  <a:srgbClr val="5A6A62"/>
                </a:solidFill>
                <a:latin typeface="Helvetica Neue"/>
              </a:rPr>
              <a:t>Fintech sob LGPD e regulação bancária; o que transita nas IAs é o material mais sensível do banco.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33087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C6B4D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51375"/>
            <a:ext cx="9418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6211C"/>
                </a:solidFill>
                <a:latin typeface="Helvetica Neue"/>
              </a:rPr>
              <a:t>Comprovação por evidências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350" b="0">
                <a:solidFill>
                  <a:srgbClr val="5A6A62"/>
                </a:solidFill>
                <a:latin typeface="Helvetica Neue"/>
              </a:rPr>
              <a:t>Seis achados verificáveis e 7 de 10 indicadores divergentes — na própria base oficial.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925312"/>
            <a:ext cx="10515600" cy="9525"/>
          </a:xfrm>
          <a:prstGeom prst="rect">
            <a:avLst/>
          </a:prstGeom>
          <a:solidFill>
            <a:srgbClr val="DD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0235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C6B4D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20640"/>
            <a:ext cx="9418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6211C"/>
                </a:solidFill>
                <a:latin typeface="Helvetica Neue"/>
              </a:rPr>
              <a:t>Recorte do projeto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350" b="0">
                <a:solidFill>
                  <a:srgbClr val="5A6A62"/>
                </a:solidFill>
                <a:latin typeface="Helvetica Neue"/>
              </a:rPr>
              <a:t>Rastreabilidade, reaplicação da política, auditoria e alertas — bloqueio e MITM fora do escopo.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