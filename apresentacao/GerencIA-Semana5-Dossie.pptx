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ITA CHALLENGE SPRINT · SEMANA 5 · DOSSIÊ FINAL E PROPOSTA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200" b="0">
                <a:solidFill>
                  <a:srgbClr val="16211C"/>
                </a:solidFill>
                <a:latin typeface="Georgia"/>
              </a:rPr>
              <a:t>GerencIA — governança de IA
que a empresa pode provar.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5A6A62"/>
                </a:solidFill>
                <a:latin typeface="Helvetica Neue"/>
              </a:rPr>
              <a:t>O dossiê reúne as cinco semanas: do problema ao protótipo que roda, do papel da IA aos resultados dos testes, do impacto à viabilidade.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A6A62"/>
                </a:solidFill>
                <a:latin typeface="Menlo"/>
              </a:rPr>
              <a:t>Desafio 2 · Stark Bank · 650 eventos · 14 regras · 15/15 do gabarito · 98,8% de concordância · dados fictícios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PROPOSTA DE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43032" cy="2926080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FFFFFF"/>
                </a:solidFill>
                <a:latin typeface="Georgia"/>
              </a:rPr>
              <a:t>A GerencIA transforma “achamos que estamos seguros no uso de IA” em “conseguimos provar onde não estamos” — </a:t>
            </a:r>
            <a:r>
              <a:rPr sz="2000" b="0">
                <a:solidFill>
                  <a:srgbClr val="EAF3EE"/>
                </a:solidFill>
                <a:latin typeface="Georgia"/>
              </a:rPr>
              <a:t>rastreando a informação (não o clique), reaplicando a política com IA auditável e mantendo o conteúdo dentro do perímetro.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01 · PROBLEMA E RECORTE  ·  02 · EVIDÊNCIAS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O problema está na própria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>
                <a:solidFill>
                  <a:srgbClr val="5A6A62"/>
                </a:solidFill>
                <a:latin typeface="Helvetica Neue"/>
              </a:rPr>
              <a:t>A empresa registra o uso de IA mas não confia no registro. Recorte: rastrear a informação, reaplicar a política com evidência e auditar a rotulagem — sobre a base oficial + captura ao vivo.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3392423" cy="1371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3026663" cy="1097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7 / 10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indicadores declarados divergem do apurado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834640"/>
            <a:ext cx="3392423" cy="1371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3017520"/>
            <a:ext cx="3026663" cy="1097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6,8% → 16,6%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eventos críticos: subnotificação de ~2,4×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7" y="2834640"/>
            <a:ext cx="3392423" cy="13715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3017520"/>
            <a:ext cx="3026663" cy="1097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6 achados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A-01…A-06, verificáveis célula a célula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8912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Entre eles: 38 eventos cuja regra citada engana o auditor · 18 em que a obrigação de LGPD some do registro · 6 das 14 regras que nunca disparam · 47 alertas “tratados” sem data (SLA não apurável).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03 · SOLUÇÃO E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Não é mockup — já roda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>
                <a:solidFill>
                  <a:srgbClr val="5A6A62"/>
                </a:solidFill>
                <a:latin typeface="Helvetica Neue"/>
              </a:rPr>
              <a:t>Lê a planilha, aplica as 14 regras, audita, monta o painel e recebe capturas ao vivo — com um comando. Reproduz 15/15 do gabarito e 98,8% de concordância de nível; os dois motores batem em tudo.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3392423" cy="228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3026663" cy="2011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Rastrear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Busca reversa: da informação para ferramentas, pessoas e vezes.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834640"/>
            <a:ext cx="3392423" cy="228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3017520"/>
            <a:ext cx="3026663" cy="2011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Motor R01–R14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Risco por precedência, com cadeia de evidência por evento.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7" y="2834640"/>
            <a:ext cx="3392423" cy="228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3017520"/>
            <a:ext cx="3026663" cy="2011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Auditoria + Validação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Indicadores recalculados, os 6 achados e 15/15.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04 · PAPEL DA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>
                <a:solidFill>
                  <a:srgbClr val="16211C"/>
                </a:solidFill>
                <a:latin typeface="Georgia"/>
              </a:rPr>
              <a:t>Três níveis, em cascata — e auditável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9242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1324051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DETERMINÍSTICO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02666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Nível 0 · borda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Detectores determinísticos (CPF/CNPJ/Luhn/credencial) + fingerprint. Instantâneo, explicável.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828800"/>
            <a:ext cx="339242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81144" y="2011680"/>
            <a:ext cx="649224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377440"/>
            <a:ext cx="302666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Nível 1 · on-premise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Qwen3 (llamafile) no servidor classifica tipo + sensibilidade em ~0,3s. O conteúdo NÃO sai da máquina.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7" y="1828800"/>
            <a:ext cx="339242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56447" y="2011680"/>
            <a:ext cx="799185" cy="256032"/>
          </a:xfrm>
          <a:prstGeom prst="roundRect">
            <a:avLst>
              <a:gd name="adj" fmla="val 50000"/>
            </a:avLst>
          </a:prstGeom>
          <a:solidFill>
            <a:srgbClr val="F3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6A2A78"/>
                </a:solidFill>
                <a:latin typeface="Menlo"/>
              </a:rPr>
              <a:t>EXCEÇÃO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377440"/>
            <a:ext cx="302666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Nível 2 · nuvem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Claude (claude-opus-5) só o resíduo de baixa confiança; devolve aprendizado aos locais.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0624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6211C"/>
                </a:solidFill>
                <a:latin typeface="Helvetica Neue"/>
              </a:rPr>
              <a:t>A IA é o núcleo (classifica, decide, rastreia) e é aceitável em Compliance porque decide por regras explícitas com evidência — cada captura grava COMO foi classificada (classificado_por).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05 · ARQUITETURA 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On-premise, do edge ao painel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  <a:latin typeface="Helvetica Neue"/>
              </a:rPr>
              <a:t>Borda (extensão · agente · proxy)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1920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  <a:latin typeface="Helvetica Neue"/>
              </a:rPr>
              <a:t>Coletor (identidade no 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2624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20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  <a:latin typeface="Helvetica Neue"/>
              </a:rPr>
              <a:t>Núcleo (motor + Qwen3 ⇄ nuvem)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4616" y="1920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  <a:latin typeface="Helvetica Neue"/>
              </a:rPr>
              <a:t>Base unificada (legado + presente)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286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C6B4D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5168" y="1920240"/>
            <a:ext cx="2057400" cy="1005840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FFFFFF"/>
                </a:solidFill>
                <a:latin typeface="Helvetica Neue"/>
              </a:rPr>
              <a:t>Painel de governança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91840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6211C"/>
                </a:solidFill>
                <a:latin typeface="Helvetica Neue"/>
              </a:rPr>
              <a:t>Dados: </a:t>
            </a:r>
            <a:r>
              <a:rPr sz="1400" b="0">
                <a:solidFill>
                  <a:srgbClr val="5A6A62"/>
                </a:solidFill>
                <a:latin typeface="Helvetica Neue"/>
              </a:rPr>
              <a:t>legado (650 eventos, 160 alertas, 8 ferramentas, 20 tipos, 72 usuários, 14 regras; fictícios) + presente (capturas ao vivo, identidade no SO). Núcleo em VLAN sem saída; só a DMZ de notificação fala com fora. A solução mede a qualidade da rotulagem — é assim que acha os 6 achados.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06 · RESULTADOS DOS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Validado em estação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spc="40">
                <a:solidFill>
                  <a:srgbClr val="5A6A62"/>
                </a:solidFill>
                <a:latin typeface="Menlo"/>
              </a:rPr>
              <a:t>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spc="40">
                <a:solidFill>
                  <a:srgbClr val="5A6A62"/>
                </a:solidFill>
                <a:latin typeface="Menlo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6211C"/>
                </a:solidFill>
                <a:latin typeface="Helvetica Neue"/>
              </a:rPr>
              <a:t>Agente instalado como serviço do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7627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B2C"/>
                </a:solidFill>
                <a:latin typeface="Helvetica Neue"/>
              </a:rPr>
              <a:t> Running / Automatic, sobe no boot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96896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066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6211C"/>
                </a:solidFill>
                <a:latin typeface="Helvetica Neue"/>
              </a:rPr>
              <a:t>Extensão capturando conteúdo (prompt + resposta)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0662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B2C"/>
                </a:solidFill>
                <a:latin typeface="Helvetica Neue"/>
              </a:rPr>
              <a:t> OK, com busca única (par_id)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27248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6211C"/>
                </a:solidFill>
                <a:latin typeface="Helvetica Neue"/>
              </a:rPr>
              <a:t>Identidade do usuário logado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3697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B2C"/>
                </a:solidFill>
                <a:latin typeface="Helvetica Neue"/>
              </a:rPr>
              <a:t> host nativo, multiusuário, não falsificável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6732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6211C"/>
                </a:solidFill>
                <a:latin typeface="Helvetica Neue"/>
              </a:rPr>
              <a:t>Classificação Nível 0 (CPF em prompt real)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76732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B2C"/>
                </a:solidFill>
                <a:latin typeface="Helvetica Neue"/>
              </a:rPr>
              <a:t> “Dado pessoal (CPF)” / Crítica, na hora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87952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6211C"/>
                </a:solidFill>
                <a:latin typeface="Helvetica Neue"/>
              </a:rPr>
              <a:t>Classificação Nível 1 (Qwen3 local)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97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B2C"/>
                </a:solidFill>
                <a:latin typeface="Helvetica Neue"/>
              </a:rPr>
              <a:t> tipo + sensibilidade em ~0,3s, on-premise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71830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19472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5A6A62"/>
                </a:solidFill>
                <a:latin typeface="Helvetica Neue"/>
              </a:rPr>
              <a:t>Os testes também expuseram e corrigiram atritos reais: falso-positivo de CDN, flood do agente, ID fixo da extensão e frições de implantação no Windows.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07 · IMPACTO  ·  08 · VIABILIDADE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>
                <a:solidFill>
                  <a:srgbClr val="16211C"/>
                </a:solidFill>
                <a:latin typeface="Georgia"/>
              </a:rPr>
              <a:t>O que muda, e por que é implementável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799185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026663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Governança que fecha auditoria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Indicadores apurados com evidência; meta de zerar as 7 divergências.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81144" y="2011680"/>
            <a:ext cx="799185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IMPACTO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377440"/>
            <a:ext cx="3026663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LGPD no registro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Detecta dado pessoal em IA pública e marca a obrigação de privacidade.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7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56447" y="2011680"/>
            <a:ext cx="799185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IMPACTO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377440"/>
            <a:ext cx="3026663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Conteúdo no perímetro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Níveis 0 e 1 classificam on-premise; a nuvem só vê o resíduo.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242816"/>
            <a:ext cx="1099108" cy="256032"/>
          </a:xfrm>
          <a:prstGeom prst="roundRect">
            <a:avLst>
              <a:gd name="adj" fmla="val 50000"/>
            </a:avLst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A9660F"/>
                </a:solidFill>
                <a:latin typeface="Menlo"/>
              </a:rPr>
              <a:t>VIABILIDADE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08576"/>
            <a:ext cx="3026663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Sem dependência de nuvem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Núcleo e Qwen3 no servidor; Python puro no núcleo.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4" y="4242816"/>
            <a:ext cx="1099108" cy="256032"/>
          </a:xfrm>
          <a:prstGeom prst="roundRect">
            <a:avLst>
              <a:gd name="adj" fmla="val 50000"/>
            </a:avLst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A9660F"/>
                </a:solidFill>
                <a:latin typeface="Menlo"/>
              </a:rPr>
              <a:t>VIABILIDADE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4608576"/>
            <a:ext cx="3026663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Implantação em massa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Agente por GPO/Intune; extensão com ID fixo + host de identidade.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7" y="4242816"/>
            <a:ext cx="1099108" cy="256032"/>
          </a:xfrm>
          <a:prstGeom prst="roundRect">
            <a:avLst>
              <a:gd name="adj" fmla="val 50000"/>
            </a:avLst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A9660F"/>
                </a:solidFill>
                <a:latin typeface="Menlo"/>
              </a:rPr>
              <a:t>VIABILIDADE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7" y="4608576"/>
            <a:ext cx="3026663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Testado no ambiente-alvo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Windows real (Parallels), não só laboratório.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09 · ADOÇÃO, RISCOS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Do piloto à escala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92423" cy="3200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724204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ADOÇÃO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026663" cy="2560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Adoção: piloto → onda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Começar por uma área (ex.: Financeiro), com aviso de monitoramento; expandir por GPO/Intune após validar.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920240"/>
            <a:ext cx="3392423" cy="3200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81144" y="2103120"/>
            <a:ext cx="724204" cy="256032"/>
          </a:xfrm>
          <a:prstGeom prst="roundRect">
            <a:avLst>
              <a:gd name="adj" fmla="val 50000"/>
            </a:avLst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A9660F"/>
                </a:solidFill>
                <a:latin typeface="Menlo"/>
              </a:rPr>
              <a:t>RISCOS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468880"/>
            <a:ext cx="3026663" cy="2560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Riscos (limites honestos)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Senha barra usuário/admin casual, não o admin determinado (exige MDM/EDR); MITM é opt-in; modelo local pequeno (há limiar + Nível 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7" y="1920240"/>
            <a:ext cx="3392423" cy="3200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56447" y="2103120"/>
            <a:ext cx="724204" cy="256032"/>
          </a:xfrm>
          <a:prstGeom prst="roundRect">
            <a:avLst>
              <a:gd name="adj" fmla="val 50000"/>
            </a:avLst>
          </a:prstGeom>
          <a:solidFill>
            <a:srgbClr val="F3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6A2A78"/>
                </a:solidFill>
                <a:latin typeface="Menlo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468880"/>
            <a:ext cx="3026663" cy="2560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Próximos passos (fase 2)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Assinar a extensão; fingerprint em LSH; ligar o Nível 2; fechar paridade de hash e fluxo de LGPD.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CRITÉRIO DA SEMANA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>
                <a:solidFill>
                  <a:srgbClr val="16211C"/>
                </a:solidFill>
                <a:latin typeface="Georgia"/>
              </a:rPr>
              <a:t>Viabilidade e potencial de negócio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01 · Viabilidade de implementação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On-premise, Python puro no núcleo, deploy por GPO/Intune, testado em estação Windows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6" y="1828800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6" y="2011680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02 · Impacto e business case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Governança auditável (zerar 7 divergências), LGPD no registro, privacidade por desenho, linhagem.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22776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05656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03 · Adoção e próximos passos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Piloto por área → onda via GPO/Intune; riscos nomeados; fase 2 definida.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3922776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4105656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11C"/>
                </a:solidFill>
                <a:latin typeface="Helvetica Neue"/>
              </a:rPr>
              <a:t>04 · Material final vende a ideia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5A6A62"/>
                </a:solidFill>
                <a:latin typeface="Helvetica Neue"/>
              </a:rPr>
              <a:t>Problema → evidência → protótipo que roda → resultados reais → viabilidade, com números verificáveis.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